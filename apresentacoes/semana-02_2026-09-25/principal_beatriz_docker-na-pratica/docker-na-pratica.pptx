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4" r:id="rId10"/>
    <p:sldId id="272" r:id="rId11"/>
    <p:sldId id="266" r:id="rId12"/>
    <p:sldId id="273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Space Grotesk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Abertura. O foco não é decorar Dockerfile: é entender o processo e o porquê.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pergunta que guia a oficina. Deixar a turma responder antes de avançar.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camadas que mudam de máquina para máquina sem ninguém perceber. Em ML, mudam tanto a saída quanto a velocidade.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Container não é VM leve: é um processo isolado que divide o kernel do host. No Windows e no macOS o Docker Desktop mantém uma VM Linux por baixo.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Dockerfile é a receita, imagem é o pacote pronto, container é o pacote rodando. O digest sha256 é o nome verdadeiro da imagem.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mesmo caminho do guia Get Started oficial, partes 1 a 3: containerizar, atualizar, compartilhar.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Ler o Dockerfile como respostas a quatro perguntas, não como sintaxe. Este é o Dockerfile real da oficina.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Três coisas são necessárias para usar um modelo; o container leva as três. O importante é para que cada peça serve, não o nome técnico.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resposta para 'por que Docker junto com testbench'. Procedência sem ambiente reproduzível não se sustenta.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Token: pedaço de palavra; o modelo escreve um por vez. As siglas (TTFT, TPOT, p50/p95) são os nomes que aparecem no JSON de resultado.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JSON guarda medida e procedência juntas. Os valores no slide são ilustrativos; abrir um resultado real na demo.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ao vivo; comandos completos no ROTEIRO.md. Baixar imagem e modelo antes da aula. Digest: a impressão digital da imagem, um código sha256 que muda se qualquer coisa mudar.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Valores reais dos JSON em resultados/. Máquina A (notebook-bia): Intel Core i5-1135G7, decode 60,6 ± 1,6 tok/s, TTFT médio 22 ms. Máquina B (notebook-pedro): Intel Core i5-1235U, decode 34,8 ± 3,3 tok/s, TTFT médio 43 ms. A máquina A foi medida duas vezes: a primeira (48,7 ± 11,5 tok/s) saiu sem digest porque a variável IMAGE_DIGEST foi definida em outro terminal; a segunda, usada no slide, tem o digest e variou bem menos. ram_gb igual (7,6) porque é a memória que o Docker/WSL enxerga, não a RAM total do notebook. Boa deixa para a discussão: a mesma máquina deu 48,7 e 60,6 tok/s em dois momentos.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Honestidade sobre os limites. O container fixa o software; o resto precisa ser declarado. Dentro do container, hostname é o ID do container, por isso --machine é obrigatório.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Fechamento e discussão. Respostas possíveis: hardware, arquitetura, carga da máquina, modo de energia, limites de CPU/memória dados ao Docker Desktop.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1311771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0890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522237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1730871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OFICINA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102346"/>
            <a:ext cx="88311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na Prática: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 Modelo ao Container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000142"/>
            <a:ext cx="86868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Como se faz, qual é o processo e para que serve.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 modelo que roda em qualquer máquina e pode ser medido.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371600" y="5203325"/>
            <a:ext cx="2368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Beatriz Almeida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868680"/>
            <a:ext cx="9445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A PERGUNTA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5752" cy="99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unciona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minha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máquina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”</a:t>
            </a:r>
            <a:r>
              <a:rPr lang="pt-BR"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não é mais justificativa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7360" y="26974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MÁQUINA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108960"/>
            <a:ext cx="42062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1605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Python 3.12, bibliotecas de ontem, build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974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MÁQUINA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108960"/>
            <a:ext cx="42062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Quebra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Python 3.9, bibliotecas de hoje, outro sistema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2743200"/>
            <a:ext cx="9144" cy="1691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377440" y="5029200"/>
            <a:ext cx="7434072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5029200"/>
            <a:ext cx="743407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código é o mesmo. </a:t>
            </a:r>
            <a:r>
              <a:rPr sz="18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O ambiente não.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Ambiente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az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arte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do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esultado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Entre duas máquinas, quase nunca é o código que muda. É tudo o que está em volta dele.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42316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1" y="269748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9184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657600"/>
            <a:ext cx="1938528" cy="6462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Distribuição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libc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bibliotecas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nativas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O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instalado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6607" y="242316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60927" y="269748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0927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0927" y="329184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0927" y="3657600"/>
            <a:ext cx="19385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Versão do Python e do servidor de inferência. Cada build tem opções diferentes.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262" y="242316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88582" y="269748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8582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8582" y="329184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8582" y="3657600"/>
            <a:ext cx="19385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Versões soltas no pip mudam de um dia para o outro.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1917" y="242316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16237" y="269748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6237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6237" y="329184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6237" y="3657600"/>
            <a:ext cx="19385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Variáveis de ambiente, caminhos, portas, tamanho de contexto.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5074920"/>
            <a:ext cx="10671048" cy="777240"/>
          </a:xfrm>
          <a:prstGeom prst="roundRect">
            <a:avLst>
              <a:gd name="adj" fmla="val 941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5074920"/>
            <a:ext cx="1003096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Num modelo de ML pesa em dobro: </a:t>
            </a:r>
            <a:r>
              <a:rPr sz="135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ambiente muda a resposta e muda a velocidade.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O 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Container: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mbiente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ira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um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rtefato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 processo isolado que enxerga só o que foi empacotado para ele.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2860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MÁQUINA VIRTUAL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65176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65176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265176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13432" y="265176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20040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20040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Bibliotecas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13432" y="320040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3432" y="320040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Bibliotecas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3749039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3749039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 convidado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13432" y="3749039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13432" y="3749039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 convidado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4297679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29767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Hypervisor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4846319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484631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22860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CONTAINER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87952" y="265176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87952" y="265176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42432" y="265176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42432" y="265176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87952" y="320040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87952" y="320040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Bibliotecas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3200400"/>
            <a:ext cx="1463039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42432" y="3200400"/>
            <a:ext cx="14630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Bibliotecas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87952" y="3749039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87952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Docker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87952" y="4297679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87952" y="429767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Kernel do host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87952" y="4846319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87952" y="484631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Hardware</a:t>
            </a:r>
          </a:p>
        </p:txBody>
      </p:sp>
      <p:sp>
        <p:nvSpPr>
          <p:cNvPr id="37" name="Oval 36"/>
          <p:cNvSpPr/>
          <p:nvPr/>
        </p:nvSpPr>
        <p:spPr>
          <a:xfrm>
            <a:off x="8001000" y="233172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23134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Leva o ambiente junto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7928" y="2606039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 base, runtime, dependências e configuração no mesmo pacote.</a:t>
            </a:r>
          </a:p>
        </p:txBody>
      </p:sp>
      <p:sp>
        <p:nvSpPr>
          <p:cNvPr id="41" name="Oval 40"/>
          <p:cNvSpPr/>
          <p:nvPr/>
        </p:nvSpPr>
        <p:spPr>
          <a:xfrm>
            <a:off x="8001000" y="3355848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33558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7928" y="33375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Divide o kernel do host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67928" y="3630168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 sistema convidado: sobe em segundos e ocupa megabytes.</a:t>
            </a:r>
          </a:p>
        </p:txBody>
      </p:sp>
      <p:sp>
        <p:nvSpPr>
          <p:cNvPr id="45" name="Oval 44"/>
          <p:cNvSpPr/>
          <p:nvPr/>
        </p:nvSpPr>
        <p:spPr>
          <a:xfrm>
            <a:off x="8001000" y="4379976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43799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67928" y="43616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É descartável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67928" y="4654296"/>
            <a:ext cx="2834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Cria, mede, destrói. O próximo nasce idêntico.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548640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 Windows e no macOS, o Docker Desktop roda uma VM Linux por baixo. O container continua o mesmo.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VOCABULÁRIO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Quase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tudo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Docker é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dessas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três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coisas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um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comando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leva de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a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outra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37744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27157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0632" y="277063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70632" y="277063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Receita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33756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Texto que descreve como montar o ambiente, passo a passo.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4712" y="438912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4389120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4" y="2377440"/>
            <a:ext cx="27432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237744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37176" y="27157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83095" y="277063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5" y="277063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Pacote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333756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Resultado imutável do build, identificado por um digest sha256.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37176" y="438912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37176" y="4389120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 push / pull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3548" y="2377440"/>
            <a:ext cx="274320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377440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271576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277063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95560" y="277063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312E81"/>
                </a:solidFill>
                <a:latin typeface="Inter"/>
                <a:ea typeface="Inter"/>
                <a:cs typeface="Inter"/>
                <a:sym typeface="Inter"/>
              </a:rPr>
              <a:t>Execução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33756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Uma imagem rodando. Dá para criar e destruir quantos quiser.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389120"/>
            <a:ext cx="2514600" cy="438912"/>
          </a:xfrm>
          <a:prstGeom prst="roundRect">
            <a:avLst>
              <a:gd name="adj" fmla="val 14583"/>
            </a:avLst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4389120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486400"/>
            <a:ext cx="10671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Registry </a:t>
            </a: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(Docker Hub, GHCR) é onde a imagem fica guardada para a outra máquina puxar.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COMO SE 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Processo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220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pt-BR"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Percurso 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guia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Get Started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oficial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 Docker, partes 1 a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331720"/>
            <a:ext cx="2331720" cy="1005840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54203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1. ESCREVER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88920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540" y="233172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331720"/>
            <a:ext cx="2331720" cy="1005840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7328" y="254203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2. CONSTRUIR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788920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7316" y="233172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2331720"/>
            <a:ext cx="2331720" cy="1005840"/>
          </a:xfrm>
          <a:prstGeom prst="roundRect">
            <a:avLst>
              <a:gd name="adj" fmla="val 727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47104" y="254203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3. RODAR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788920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7092" y="233172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331720"/>
            <a:ext cx="2331720" cy="1005840"/>
          </a:xfrm>
          <a:prstGeom prst="roundRect">
            <a:avLst>
              <a:gd name="adj" fmla="val 727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2542032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4. COMPARTILHAR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88920"/>
            <a:ext cx="18745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5803D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749039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4005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Containerizar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407408"/>
            <a:ext cx="2743200" cy="67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ambiente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deixa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estar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solto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passa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estar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num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arquivo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texto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20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versionado</a:t>
            </a:r>
            <a:r>
              <a:rPr sz="120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8556" y="3749039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2876" y="4005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Atualizar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2876" y="4407408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Mudou o código? Novo build, nova imagem. A anterior continua existindo, com outro digest.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39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40050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Compartilhar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07408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imagem vai para um registry. Qualquer máquina com Docker puxa e roda igual.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SEM DECORAR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cada linha faz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Dockerfile da bancada de medição tem quatro instruções.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331720"/>
            <a:ext cx="5029200" cy="3429000"/>
          </a:xfrm>
          <a:prstGeom prst="roundRect">
            <a:avLst>
              <a:gd name="adj" fmla="val 2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2697479"/>
            <a:ext cx="4297680" cy="2697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python:3.12-slim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bench.py /app/bench.py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WORKDIR</a:t>
            </a: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/resultados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ENTRYPOINT</a:t>
            </a: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["python",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"/app/bench.py"]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82512" y="2331720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50591"/>
            <a:ext cx="3703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 onde parto?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06624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 uma base pronta. Fixa o sistema e a versão do Python.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09544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3209544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28415"/>
            <a:ext cx="3703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que entra?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584448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Só o bench.py, que usa apenas a biblioteca padrão.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87368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4087368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WORKDIR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06240"/>
            <a:ext cx="3703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Onde trabalho?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462272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 pasta em que os JSON de resultado são gravados.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965192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4965192"/>
            <a:ext cx="12344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ENTRYPOINT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084064"/>
            <a:ext cx="3703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que roda?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40096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comando que o container executa ao subir.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Containerizando um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220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 usar um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linguagem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precisa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três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coisas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O container leva as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três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juntas.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286000"/>
            <a:ext cx="6675120" cy="370332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45059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DENTRO DO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1" y="2761488"/>
            <a:ext cx="6126480" cy="932688"/>
          </a:xfrm>
          <a:prstGeom prst="roundRect">
            <a:avLst>
              <a:gd name="adj" fmla="val 7843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4440" y="30358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035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889504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programa que roda o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3163824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rPr>
              <a:t>Carrega o modelo na memória e responde às perguntas. Usamos o llama.cpp, que é gratuito e roda sem placa de vídeo.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3803904"/>
            <a:ext cx="6126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34440" y="4078224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0782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393192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arquivo do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206240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Os números que o modelo aprendeu no treino, chamados de pesos. Aqui é um modelo pequeno, de uns 400 MB.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1" y="4846320"/>
            <a:ext cx="6126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234440" y="512064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51206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4974336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Os ajustes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0512" y="5248656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Quanto texto o modelo consegue ler de uma vez e por qual porta ele atende.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291840"/>
            <a:ext cx="274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22860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48716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A PORTA DE ENTRADA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743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localhost:8080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15468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É o endereço do modelo. Outro programa manda uma pergunta para lá e recebe o texto da resposta.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448056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466344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PARA QUE 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919472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Quem quiser usar o modelo só precisa ter o Docker. Não instala Python, biblioteca nem o modelo à mão.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868680"/>
            <a:ext cx="94457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DOCKER +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44575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Mesma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ergunta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ois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ados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7360" y="23317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2743200"/>
            <a:ext cx="42062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9319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Garante que o ambiente é o mesmo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3317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42062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Quanto?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Mede e registra como mediu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2377440"/>
            <a:ext cx="9144" cy="1828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20240" y="4754880"/>
            <a:ext cx="834847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4754880"/>
            <a:ext cx="7799831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Um número só vale se outra pessoa consegue </a:t>
            </a:r>
            <a:r>
              <a:rPr sz="18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repetir a medição.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container é o que garante que o ambiente é o mesmo.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A BANCADA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bench.py faz a mesma pergunta ao modelo várias vezes e cronometra a resposta, que chega aos poucos.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9418320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07592" y="2688336"/>
            <a:ext cx="137160" cy="13716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77056" y="2702052"/>
            <a:ext cx="109728" cy="10972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443984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10912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77840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44768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11696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78624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45552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79407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46336" y="2702052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13264" y="2702052"/>
            <a:ext cx="109728" cy="10972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33172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pergunta enviada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79" y="23317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chega o 1º pedaço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3317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chega o último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2971800"/>
            <a:ext cx="2560320" cy="27432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29718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espera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2971800"/>
            <a:ext cx="6236208" cy="274320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2971800"/>
            <a:ext cx="62362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o modelo escrevendo a resposta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429000"/>
            <a:ext cx="10671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Cada bolinha é um token: </a:t>
            </a:r>
            <a:r>
              <a:rPr sz="11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 pedaço de palavra. O modelo escreve um token por vez.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3886200"/>
            <a:ext cx="2487168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4983" y="4050791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 de espera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" y="4416552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4983" y="441655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TTFT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477316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Quanto demora até aparecer o primeiro pedaço da resposta.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86607" y="3886200"/>
            <a:ext cx="2487168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42639" y="4050791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Velocidade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2639" y="4416552"/>
            <a:ext cx="525780" cy="23774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42639" y="4416552"/>
            <a:ext cx="5257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tok/s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2639" y="477316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Quantos tokens o modelo escreve por segundo. É o número principal.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4262" y="3886200"/>
            <a:ext cx="2487168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0294" y="4050791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 por token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70294" y="4416552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0294" y="441655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TPOT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0294" y="477316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mesma velocidade vista ao contrário: quanto dura cada token.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1917" y="3886200"/>
            <a:ext cx="2487168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97949" y="4050791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Regularidade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97949" y="4416552"/>
            <a:ext cx="800100" cy="237744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97949" y="4416552"/>
            <a:ext cx="8001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p50 / p95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7949" y="477316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p50 é o intervalo típico entre tokens. p95 mostra os engasgos.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" y="5715000"/>
            <a:ext cx="106710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Para a comparação ser justa: a primeira rodada é descartada (aquecimento), depois são 5 medições com a mesma pergunta, e sai a média.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PROCEDÊNCIA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resultado é um JSON com as medidas e tudo o que é preciso para repeti-las.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331720"/>
            <a:ext cx="5486400" cy="3520440"/>
          </a:xfrm>
          <a:prstGeom prst="roundRect">
            <a:avLst>
              <a:gd name="adj" fmla="val 259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2651760"/>
            <a:ext cx="4846320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"procedencia"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"maquina"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"notebook-bia"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"arquitetura"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"x86_64"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"cpu"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"..."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"ram_gb"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"imagem_docker_digest"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"sha256:..."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"script_sha256"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"..."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"como_mediu"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{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"prompt_sha256"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"..."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    "temperature"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"seed"</a:t>
            </a: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31720"/>
            <a:ext cx="4846320" cy="1051560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45973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Qual 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73405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imagem_docker_digest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990087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sha256 da imagem amarra o número ao container que o produziu.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520439"/>
            <a:ext cx="4846320" cy="1051560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364845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Qual medição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92277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script_sha256, prompt_sha256,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178807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Mesmo script, mesmo prompt, mesmos parâmetros.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709160"/>
            <a:ext cx="4846320" cy="1051560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483717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Qual máquina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111496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338CA"/>
                </a:solidFill>
                <a:latin typeface="Consolas"/>
                <a:ea typeface="Consolas"/>
                <a:cs typeface="Consolas"/>
                <a:sym typeface="Consolas"/>
              </a:rPr>
              <a:t>cpu, ram_gb, arquitetura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3675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que sobra de diferente, declarado em vez de escondido.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Um container serve, o outro mede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São três passos, iguais nas duas máquinas. Só muda o nome da máquina no último.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240280"/>
            <a:ext cx="10671048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441448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35000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Ligar o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61518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Baixa o container do modelo e deixa ele rodando em segundo plano.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86584"/>
            <a:ext cx="5001768" cy="493776"/>
          </a:xfrm>
          <a:prstGeom prst="roundRect">
            <a:avLst>
              <a:gd name="adj" fmla="val 1296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386584"/>
            <a:ext cx="463600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 compose up -d modelo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136392"/>
            <a:ext cx="10671048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87552" y="3337560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3375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246120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Anotar a identidade da imagem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51129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digest é a impressão digital da imagem. Prova que as duas máquinas usam o mesmo ambiente.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282696"/>
            <a:ext cx="5001768" cy="493776"/>
          </a:xfrm>
          <a:prstGeom prst="roundRect">
            <a:avLst>
              <a:gd name="adj" fmla="val 1296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282696"/>
            <a:ext cx="463600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 image inspect </a:t>
            </a:r>
            <a:r>
              <a:rPr sz="1050" b="0" i="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...   # completo no ROTEIRO.md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4032504"/>
            <a:ext cx="10671048" cy="786384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552" y="4233672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2336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14223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40740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Liga o container da bancada, que faz as perguntas ao modelo e salva o resultado.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178808"/>
            <a:ext cx="5001768" cy="493776"/>
          </a:xfrm>
          <a:prstGeom prst="roundRect">
            <a:avLst>
              <a:gd name="adj" fmla="val 1296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2" y="4178808"/>
            <a:ext cx="4636008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 compose run --rm bench --machine </a:t>
            </a:r>
            <a:r>
              <a:rPr sz="10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notebook-bia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5029200"/>
            <a:ext cx="2926080" cy="1005840"/>
          </a:xfrm>
          <a:prstGeom prst="roundRect">
            <a:avLst>
              <a:gd name="adj" fmla="val 7272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148072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CONTAINER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367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6692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responde às perguntas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1436" y="5029200"/>
            <a:ext cx="2926080" cy="1005840"/>
          </a:xfrm>
          <a:prstGeom prst="roundRect">
            <a:avLst>
              <a:gd name="adj" fmla="val 727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60036" y="5148072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CONTAINER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0036" y="5367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Bancada (bench.py)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0036" y="56692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pergunta e cronometra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5029200"/>
            <a:ext cx="2926080" cy="1005840"/>
          </a:xfrm>
          <a:prstGeom prst="roundRect">
            <a:avLst>
              <a:gd name="adj" fmla="val 727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48072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NO SEU COMPUTADOR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Arquivo de resultado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6692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medidas e como foram feitas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5029200"/>
            <a:ext cx="94640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← pergunta</a:t>
            </a:r>
          </a:p>
          <a:p>
            <a:pPr algn="ctr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resposta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7516" y="5029200"/>
            <a:ext cx="94640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salva</a:t>
            </a:r>
          </a:p>
          <a:p>
            <a:pPr algn="ctr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Mesmo container, duas máquinas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220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dois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JSON da pasta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resultados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/,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medidos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sz="1350" b="0" i="0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máquina distintas</a:t>
            </a:r>
            <a:r>
              <a:rPr sz="1350" b="0" i="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221284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CAMPO DO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85032" y="2212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MÁQUINA A: NOTEBOOK-BIA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8272" y="2212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MÁQUINA B: NOTEBOOK-PEDRO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514600"/>
            <a:ext cx="10671048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25146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imagem_docker_digest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51460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sha256:af8c2960…e257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51460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sha256:af8c2960…e257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59" y="260146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95559" y="2601468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igual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2999232"/>
            <a:ext cx="1067104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299923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script_sha256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999232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7296a03a…1591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999232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7296a03a…1591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59" y="308610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5559" y="308610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igual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483864"/>
            <a:ext cx="10671048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3271" y="348386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prompt_sha256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3483864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f3343675…92e6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3483864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f3343675…92e6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59" y="357073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95559" y="3570732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igual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3968496"/>
            <a:ext cx="1067104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1" y="3968496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3968496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Intel Core i5-1135G7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968496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Intel Core i5-1235U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59" y="4055363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95559" y="4055363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diferente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4453128"/>
            <a:ext cx="10671048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" y="44531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ram_gb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445312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7,6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445312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7,6 GB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59" y="4539996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95559" y="453999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igual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" y="4937760"/>
            <a:ext cx="10671048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3271" y="49377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tok_per_s_decode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5032" y="493776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60,6 ± 1,6 tok/s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493776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34,8 ± 3,3 tok/s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95559" y="502462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95559" y="5024628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diferente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" y="5532120"/>
            <a:ext cx="10671048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" y="5532120"/>
            <a:ext cx="1003096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Mesma imagem, mesmo script, mesmo prompt. </a:t>
            </a:r>
            <a:r>
              <a:rPr sz="1250" b="0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ambiente é idêntico nas duas máquinas, então a diferença de velocidade é do hardware.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658368"/>
            <a:ext cx="106710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886968"/>
            <a:ext cx="10671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 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o Docker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ão</a:t>
            </a:r>
            <a:r>
              <a:rPr sz="3000" b="1" i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pt-BR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</a:t>
            </a:r>
            <a:r>
              <a:rPr sz="3000" b="1" i="0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arante</a:t>
            </a:r>
            <a:endParaRPr sz="3000" b="1" i="0" dirty="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1517904"/>
            <a:ext cx="106710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container fixa o software. O resto continua variando e precisa ficar registrado.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3317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1" y="2606039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26060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1" y="2642615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1" y="3044952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CPU, RAM e GPU continuam sendo os da máquina. É justamente o que queremos medir.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2606039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642615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044952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amd64 e arm64 recebem binários diferentes sob a mesma tag. O bench registra a arquitetura.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33271" y="4453128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44531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1" y="448970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Tag não é digest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1" y="4892040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Tags como :server e :latest mudam com o tempo. Quem identifica a imagem é o sha256.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7880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4453128"/>
            <a:ext cx="384048" cy="38404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4531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48970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Estado da máquina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892040"/>
            <a:ext cx="4069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Modo de energia, temperatura, outros processos. Vai no campo --notes.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8952" y="123444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DISCUSSÃO ABERTA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55448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“Funciona na minha máquina”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virou informação incompleta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063240"/>
            <a:ext cx="6309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Se duas máquinas rodam a mesma imagem e chegam a velocidades diferentes, o que ainda pode explicar a diferença? E onde isso fica registrado?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2344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92440" y="155448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PARA ESTUDAR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9202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Docker, guia</a:t>
            </a:r>
          </a:p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 Started oficial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743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Partes 1 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108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docs.docker.com/get-started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84048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NA PASTA DA OFICINA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1605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Dockerfile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compose.yaml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bench.py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ROTEIRO.md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2084</Words>
  <Application>Microsoft Office PowerPoint</Application>
  <PresentationFormat>Widescreen</PresentationFormat>
  <Paragraphs>297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Space Grotesk</vt:lpstr>
      <vt:lpstr>Consolas</vt:lpstr>
      <vt:lpstr>Inter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Beatriz Almeida Felicio</cp:lastModifiedBy>
  <cp:revision>5</cp:revision>
  <dcterms:modified xsi:type="dcterms:W3CDTF">2026-10-07T14:55:08Z</dcterms:modified>
</cp:coreProperties>
</file>